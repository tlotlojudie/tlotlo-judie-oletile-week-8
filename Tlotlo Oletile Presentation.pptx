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4" r:id="rId15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HealthConnect Clinic</a:t>
            </a:r>
          </a:p>
          <a:p>
            <a:pPr algn="ctr">
              <a:defRPr sz="2500"/>
            </a:pPr>
            <a:r>
              <a:t>Improving Patient Appointment Attendance and Healthcare Support Using Data and AI</a:t>
            </a:r>
          </a:p>
          <a:p>
            <a:pPr algn="ctr">
              <a:defRPr sz="2200"/>
            </a:pPr>
            <a:r>
              <a:t>Final Data Analytics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Tlotlo Oletile</a:t>
            </a:r>
          </a:p>
          <a:p>
            <a:pPr algn="ctr">
              <a:defRPr sz="1900"/>
            </a:pPr>
            <a:r>
              <a:t>Data Analytics Track | AnalystLab Africa Experience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spcAft>
                <a:spcPts val="1000"/>
              </a:spcAft>
              <a:defRPr sz="1600"/>
            </a:pPr>
            <a:r>
              <a:t>HealthConnect aims to use data and AI to improve appointment attendance and patient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000"/>
              </a:spcAft>
              <a:defRPr sz="2100"/>
            </a:pPr>
            <a:r>
              <a:t>Missed patient appointments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Low appointment attendance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Underutilized appointment slots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Need for better administrative support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Need for evidence-based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My Data Analytics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spcAft>
                <a:spcPts val="1000"/>
              </a:spcAft>
              <a:defRPr sz="1600"/>
            </a:pPr>
            <a:r>
              <a:t>Tools: Excel | Power BI | Python/Jupyter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000"/>
              </a:spcAft>
              <a:defRPr sz="2100"/>
            </a:pPr>
            <a:r>
              <a:t>Cleaned and analyzed appointment data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Developed and validated key performance indicators (KPIs)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Analyzed attendance and no-show patterns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Examined reminder status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Investigated appointment lead time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Developed dashboard visualizations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Translated findings into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Week 7 output: Health Connect Appointment Dashboard – Advanced Analysis and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My Week 7 Data Analytics Dashboard</a:t>
            </a:r>
          </a:p>
        </p:txBody>
      </p:sp>
      <p:pic>
        <p:nvPicPr>
          <p:cNvPr id="3" name="Picture 2" descr="healthconnect_week7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11338560" cy="655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Health Connect Appointment Dashboard – Week 7 | Advanced Analysis and Decision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buChar char="•"/>
              <a:spcAft>
                <a:spcPts val="1000"/>
              </a:spcAft>
              <a:defRPr sz="1600"/>
            </a:pPr>
            <a:r>
              <a:t>Validated indicators for the final decision-support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NO-SHOW RATE: 48.46%</a:t>
            </a:r>
          </a:p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ATTENDANCE RATE: 46.28%</a:t>
            </a:r>
          </a:p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CANCELLATION RATE: 5.26%</a:t>
            </a:r>
          </a:p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AVERAGE APPOINTMENT LEAD TIME: 29.64 DAYS</a:t>
            </a:r>
          </a:p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PREVIOUS NO-SHOW RATE: 18.06%</a:t>
            </a:r>
          </a:p>
          <a:p>
            <a:pPr>
              <a:buChar char="•"/>
              <a:buChar char="•"/>
              <a:spcAft>
                <a:spcPts val="1000"/>
              </a:spcAft>
              <a:defRPr sz="2100"/>
            </a:pPr>
            <a:r>
              <a:t>OBSERVED REDUCTION IN NO-SHOW RATE: 4.03 PERCENTAGE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000"/>
              </a:spcAft>
              <a:defRPr sz="2100"/>
            </a:pPr>
            <a:r>
              <a:t>The no-show rate of 48.46% indicates a significant missed-appointment challenge.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Attendance was 46.28%, highlighting an opportunity to improve appointment utilization.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Cancellations were a separate outcome at 5.26%.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Reminder = No: 51.39%; Reminder = Yes: 47.36%.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The reminder comparison shows an association in the available data, not proof of causation.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Average appointment lead time was 29.64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6E"/>
                </a:solidFill>
              </a:defRPr>
            </a:pPr>
            <a:r>
              <a:t>What the dashboard tells us — and what HealthConnect can do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35608"/>
            <a:ext cx="438912" cy="438912"/>
          </a:xfrm>
          <a:prstGeom prst="ellipse">
            <a:avLst/>
          </a:prstGeom>
          <a:solidFill>
            <a:srgbClr val="3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389888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Longer lead time = higher no-shows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4E58"/>
                </a:solidFill>
              </a:defRPr>
            </a:pPr>
            <a:r>
              <a:t>No-show rate rises from 28% at 0–7 days to 68% at 46–60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03F50"/>
                </a:solidFill>
              </a:defRPr>
            </a:pPr>
            <a:r>
              <a:t>Recommendation: review long booking lead times and consider earlier follow-up for appointments scheduled far in advance.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34440"/>
            <a:ext cx="5486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27648" y="1435608"/>
            <a:ext cx="438912" cy="438912"/>
          </a:xfrm>
          <a:prstGeom prst="ellipse">
            <a:avLst/>
          </a:prstGeom>
          <a:solidFill>
            <a:srgbClr val="3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1389888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Priority appointments show higher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4767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4E58"/>
                </a:solidFill>
              </a:defRPr>
            </a:pPr>
            <a:r>
              <a:t>Priority appointments recorded a 73% no-show rate versus 47% for other appointments.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54203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03F50"/>
                </a:solidFill>
              </a:defRPr>
            </a:pPr>
            <a:r>
              <a:t>Recommendation: review priority appointment workflows and add targeted confirmation/follow-up.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5486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858768"/>
            <a:ext cx="438912" cy="438912"/>
          </a:xfrm>
          <a:prstGeom prst="ellipse">
            <a:avLst/>
          </a:prstGeom>
          <a:solidFill>
            <a:srgbClr val="3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813048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Waiting time also shows variation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7083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4E58"/>
                </a:solidFill>
              </a:defRPr>
            </a:pPr>
            <a:r>
              <a:t>No-show rates vary across waiting-time groups, reaching 62% in the 2–10 minute group.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03F50"/>
                </a:solidFill>
              </a:defRPr>
            </a:pPr>
            <a:r>
              <a:t>Recommendation: investigate the operational factors behind waiting-time differences before changing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657600"/>
            <a:ext cx="5486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27648" y="3858768"/>
            <a:ext cx="438912" cy="438912"/>
          </a:xfrm>
          <a:prstGeom prst="ellipse">
            <a:avLst/>
          </a:prstGeom>
          <a:solidFill>
            <a:srgbClr val="303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3813048"/>
            <a:ext cx="4434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/>
            </a:pPr>
            <a:r>
              <a:t>Patterns are broad, not limited to one demographic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37083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64E58"/>
                </a:solidFill>
              </a:defRPr>
            </a:pPr>
            <a:r>
              <a:t>No-show rates vary by age and gender, but the dashboard does not show a single demographic explaining the overall problem.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965192"/>
            <a:ext cx="4983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03F50"/>
                </a:solidFill>
              </a:defRPr>
            </a:pPr>
            <a:r>
              <a:t>Recommendation: prioritize appointment-process factors while using demographic patterns for further investigation, not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6053328"/>
            <a:ext cx="10835640" cy="457200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/>
            </a:pPr>
            <a:r>
              <a:t>Key takeaway: Focus intervention on appointment-process factors identified by the data, especially long lead times and priority appointments.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Cross-Track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000"/>
              </a:spcAft>
              <a:defRPr sz="2100"/>
            </a:pPr>
            <a:r>
              <a:t>DATA ANALYTICS → DATA SCIENCE: Validated attendance and no-show findings support model interpretation.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DATA ANALYTICS → PROJECT MANAGEMENT: Final KPIs, insights and recommendations support project decisions and presentation.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ALL TRACKS → HEALTHCONNECT: Individual outputs combine into one integrated solution.</a:t>
            </a:r>
          </a:p>
          <a:p>
            <a:pPr>
              <a:buChar char="•"/>
              <a:spcAft>
                <a:spcPts val="1000"/>
              </a:spcAft>
              <a:defRPr sz="2100"/>
            </a:pPr>
            <a:r>
              <a:t>Final integration focuses on using outputs from different tracks, not communication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Individual Contribution &amp;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400"/>
              </a:spcAft>
              <a:defRPr sz="2100"/>
            </a:pPr>
            <a:r>
              <a:t>My contribution was completed within the Data Analytics track.</a:t>
            </a:r>
          </a:p>
          <a:p>
            <a:pPr>
              <a:buChar char="•"/>
              <a:spcAft>
                <a:spcPts val="1400"/>
              </a:spcAft>
              <a:defRPr sz="2100"/>
            </a:pPr>
            <a:r>
              <a:t>I developed and refined the appointment analytics and dashboard independently.</a:t>
            </a:r>
          </a:p>
          <a:p>
            <a:pPr>
              <a:buChar char="•"/>
              <a:spcAft>
                <a:spcPts val="1400"/>
              </a:spcAft>
              <a:defRPr sz="2100"/>
            </a:pPr>
            <a:r>
              <a:t>I validated the key KPIs and analyzed attendance, no-shows, cancellations, reminders and appointment lead time.</a:t>
            </a:r>
          </a:p>
          <a:p>
            <a:pPr>
              <a:buChar char="•"/>
              <a:spcAft>
                <a:spcPts val="1400"/>
              </a:spcAft>
              <a:defRPr sz="2100"/>
            </a:pPr>
            <a:r>
              <a:t>I translated the analytical findings into business insights and recommendations.</a:t>
            </a:r>
          </a:p>
          <a:p>
            <a:pPr>
              <a:buChar char="•"/>
              <a:spcAft>
                <a:spcPts val="1400"/>
              </a:spcAft>
              <a:defRPr sz="2100"/>
            </a:pPr>
            <a:r>
              <a:t>No cross-track collaboration or exchange of outputs was completed as part of my contribution.</a:t>
            </a:r>
          </a:p>
          <a:p>
            <a:pPr>
              <a:buChar char="•"/>
              <a:spcAft>
                <a:spcPts val="1400"/>
              </a:spcAft>
              <a:defRPr sz="2100"/>
            </a:pPr>
            <a:r>
              <a:t>The presentation therefore focuses on my actual Data Analytics work and the final outputs I produced.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